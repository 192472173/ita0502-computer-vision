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6" r:id="rId9"/>
    <p:sldId id="268" r:id="rId10"/>
    <p:sldId id="267" r:id="rId11"/>
    <p:sldId id="269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6C4C30-4C57-4A38-B94E-84C8609C89E3}" v="20" dt="2026-08-20T08:07:40.8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lamri chandra sekhar reddy" userId="1fa9ef55596f228a" providerId="LiveId" clId="{DF23DDA3-62CD-4C35-B928-950A07674600}"/>
    <pc:docChg chg="undo custSel addSld delSld modSld">
      <pc:chgData name="Golamri chandra sekhar reddy" userId="1fa9ef55596f228a" providerId="LiveId" clId="{DF23DDA3-62CD-4C35-B928-950A07674600}" dt="2026-08-20T08:23:50.074" v="197" actId="20577"/>
      <pc:docMkLst>
        <pc:docMk/>
      </pc:docMkLst>
      <pc:sldChg chg="modSp mod">
        <pc:chgData name="Golamri chandra sekhar reddy" userId="1fa9ef55596f228a" providerId="LiveId" clId="{DF23DDA3-62CD-4C35-B928-950A07674600}" dt="2026-08-20T08:23:50.074" v="197" actId="20577"/>
        <pc:sldMkLst>
          <pc:docMk/>
          <pc:sldMk cId="2001453404" sldId="257"/>
        </pc:sldMkLst>
        <pc:spChg chg="mod">
          <ac:chgData name="Golamri chandra sekhar reddy" userId="1fa9ef55596f228a" providerId="LiveId" clId="{DF23DDA3-62CD-4C35-B928-950A07674600}" dt="2026-08-20T08:23:50.074" v="197" actId="20577"/>
          <ac:spMkLst>
            <pc:docMk/>
            <pc:sldMk cId="2001453404" sldId="257"/>
            <ac:spMk id="3" creationId="{01F87D6C-7FCA-879B-6154-8A99C34D224E}"/>
          </ac:spMkLst>
        </pc:spChg>
      </pc:sldChg>
      <pc:sldChg chg="modSp mod">
        <pc:chgData name="Golamri chandra sekhar reddy" userId="1fa9ef55596f228a" providerId="LiveId" clId="{DF23DDA3-62CD-4C35-B928-950A07674600}" dt="2026-08-20T08:09:10.035" v="159" actId="2711"/>
        <pc:sldMkLst>
          <pc:docMk/>
          <pc:sldMk cId="2426958852" sldId="261"/>
        </pc:sldMkLst>
        <pc:spChg chg="mod">
          <ac:chgData name="Golamri chandra sekhar reddy" userId="1fa9ef55596f228a" providerId="LiveId" clId="{DF23DDA3-62CD-4C35-B928-950A07674600}" dt="2026-08-20T07:58:34.587" v="83" actId="1076"/>
          <ac:spMkLst>
            <pc:docMk/>
            <pc:sldMk cId="2426958852" sldId="261"/>
            <ac:spMk id="2" creationId="{EF199B8D-BAEF-E53E-9616-E24864DB7E89}"/>
          </ac:spMkLst>
        </pc:spChg>
        <pc:spChg chg="mod">
          <ac:chgData name="Golamri chandra sekhar reddy" userId="1fa9ef55596f228a" providerId="LiveId" clId="{DF23DDA3-62CD-4C35-B928-950A07674600}" dt="2026-08-20T08:09:10.035" v="159" actId="2711"/>
          <ac:spMkLst>
            <pc:docMk/>
            <pc:sldMk cId="2426958852" sldId="261"/>
            <ac:spMk id="3" creationId="{D798D464-E9DC-E148-878D-1A7F46CB42E3}"/>
          </ac:spMkLst>
        </pc:spChg>
      </pc:sldChg>
      <pc:sldChg chg="new del">
        <pc:chgData name="Golamri chandra sekhar reddy" userId="1fa9ef55596f228a" providerId="LiveId" clId="{DF23DDA3-62CD-4C35-B928-950A07674600}" dt="2026-08-20T07:57:32.889" v="67" actId="47"/>
        <pc:sldMkLst>
          <pc:docMk/>
          <pc:sldMk cId="3479039293" sldId="265"/>
        </pc:sldMkLst>
      </pc:sldChg>
      <pc:sldChg chg="modSp add mod">
        <pc:chgData name="Golamri chandra sekhar reddy" userId="1fa9ef55596f228a" providerId="LiveId" clId="{DF23DDA3-62CD-4C35-B928-950A07674600}" dt="2026-08-20T08:08:55.961" v="158" actId="2711"/>
        <pc:sldMkLst>
          <pc:docMk/>
          <pc:sldMk cId="2523030566" sldId="266"/>
        </pc:sldMkLst>
        <pc:spChg chg="mod">
          <ac:chgData name="Golamri chandra sekhar reddy" userId="1fa9ef55596f228a" providerId="LiveId" clId="{DF23DDA3-62CD-4C35-B928-950A07674600}" dt="2026-08-20T08:00:16.935" v="93" actId="1076"/>
          <ac:spMkLst>
            <pc:docMk/>
            <pc:sldMk cId="2523030566" sldId="266"/>
            <ac:spMk id="2" creationId="{F54F84D1-F768-9BC3-A2EA-FFB5E3F3997F}"/>
          </ac:spMkLst>
        </pc:spChg>
        <pc:spChg chg="mod">
          <ac:chgData name="Golamri chandra sekhar reddy" userId="1fa9ef55596f228a" providerId="LiveId" clId="{DF23DDA3-62CD-4C35-B928-950A07674600}" dt="2026-08-20T08:08:55.961" v="158" actId="2711"/>
          <ac:spMkLst>
            <pc:docMk/>
            <pc:sldMk cId="2523030566" sldId="266"/>
            <ac:spMk id="3" creationId="{6894DE54-7768-6D6F-F244-1FBAAEAE8615}"/>
          </ac:spMkLst>
        </pc:spChg>
      </pc:sldChg>
      <pc:sldChg chg="modSp add mod">
        <pc:chgData name="Golamri chandra sekhar reddy" userId="1fa9ef55596f228a" providerId="LiveId" clId="{DF23DDA3-62CD-4C35-B928-950A07674600}" dt="2026-08-20T08:08:36.122" v="156" actId="2711"/>
        <pc:sldMkLst>
          <pc:docMk/>
          <pc:sldMk cId="3029601253" sldId="267"/>
        </pc:sldMkLst>
        <pc:spChg chg="mod">
          <ac:chgData name="Golamri chandra sekhar reddy" userId="1fa9ef55596f228a" providerId="LiveId" clId="{DF23DDA3-62CD-4C35-B928-950A07674600}" dt="2026-08-20T08:08:30.845" v="155" actId="2711"/>
          <ac:spMkLst>
            <pc:docMk/>
            <pc:sldMk cId="3029601253" sldId="267"/>
            <ac:spMk id="2" creationId="{598BBAAF-BCCA-23E1-49B1-E797F5EFD916}"/>
          </ac:spMkLst>
        </pc:spChg>
        <pc:spChg chg="mod">
          <ac:chgData name="Golamri chandra sekhar reddy" userId="1fa9ef55596f228a" providerId="LiveId" clId="{DF23DDA3-62CD-4C35-B928-950A07674600}" dt="2026-08-20T08:08:36.122" v="156" actId="2711"/>
          <ac:spMkLst>
            <pc:docMk/>
            <pc:sldMk cId="3029601253" sldId="267"/>
            <ac:spMk id="3" creationId="{FF8E9548-9BDE-303B-BCDB-8B9D7A4328BB}"/>
          </ac:spMkLst>
        </pc:spChg>
      </pc:sldChg>
      <pc:sldChg chg="modSp add mod">
        <pc:chgData name="Golamri chandra sekhar reddy" userId="1fa9ef55596f228a" providerId="LiveId" clId="{DF23DDA3-62CD-4C35-B928-950A07674600}" dt="2026-08-20T08:08:44.555" v="157" actId="2711"/>
        <pc:sldMkLst>
          <pc:docMk/>
          <pc:sldMk cId="2946970392" sldId="268"/>
        </pc:sldMkLst>
        <pc:spChg chg="mod">
          <ac:chgData name="Golamri chandra sekhar reddy" userId="1fa9ef55596f228a" providerId="LiveId" clId="{DF23DDA3-62CD-4C35-B928-950A07674600}" dt="2026-08-20T08:00:54.704" v="107" actId="255"/>
          <ac:spMkLst>
            <pc:docMk/>
            <pc:sldMk cId="2946970392" sldId="268"/>
            <ac:spMk id="2" creationId="{0956E2D8-B9E4-3C1E-EF15-21F74ED463EB}"/>
          </ac:spMkLst>
        </pc:spChg>
        <pc:spChg chg="mod">
          <ac:chgData name="Golamri chandra sekhar reddy" userId="1fa9ef55596f228a" providerId="LiveId" clId="{DF23DDA3-62CD-4C35-B928-950A07674600}" dt="2026-08-20T08:08:44.555" v="157" actId="2711"/>
          <ac:spMkLst>
            <pc:docMk/>
            <pc:sldMk cId="2946970392" sldId="268"/>
            <ac:spMk id="3" creationId="{F0FBCE86-6DE7-ECCC-EC10-E250A9F6E293}"/>
          </ac:spMkLst>
        </pc:spChg>
      </pc:sldChg>
      <pc:sldChg chg="modSp add mod">
        <pc:chgData name="Golamri chandra sekhar reddy" userId="1fa9ef55596f228a" providerId="LiveId" clId="{DF23DDA3-62CD-4C35-B928-950A07674600}" dt="2026-08-20T08:08:16.345" v="153" actId="14100"/>
        <pc:sldMkLst>
          <pc:docMk/>
          <pc:sldMk cId="72066335" sldId="269"/>
        </pc:sldMkLst>
        <pc:spChg chg="mod">
          <ac:chgData name="Golamri chandra sekhar reddy" userId="1fa9ef55596f228a" providerId="LiveId" clId="{DF23DDA3-62CD-4C35-B928-950A07674600}" dt="2026-08-20T08:05:09.047" v="122" actId="207"/>
          <ac:spMkLst>
            <pc:docMk/>
            <pc:sldMk cId="72066335" sldId="269"/>
            <ac:spMk id="2" creationId="{989DF492-EF5E-60A4-CD3A-B47F2AE769B7}"/>
          </ac:spMkLst>
        </pc:spChg>
        <pc:spChg chg="mod">
          <ac:chgData name="Golamri chandra sekhar reddy" userId="1fa9ef55596f228a" providerId="LiveId" clId="{DF23DDA3-62CD-4C35-B928-950A07674600}" dt="2026-08-20T08:08:16.345" v="153" actId="14100"/>
          <ac:spMkLst>
            <pc:docMk/>
            <pc:sldMk cId="72066335" sldId="269"/>
            <ac:spMk id="3" creationId="{DCAA8094-9C19-4241-EE52-3A0BC8CC803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8/20/2026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8/20/2026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8/20/2026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8/20/2026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8/20/2026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8/20/2026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8/20/2026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8/20/2026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8/20/2026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8/20/2026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8/20/2026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8/20/2026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arxiv.org/abs/2109.13857?utm_source=chatgpt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53A96-8DA0-275D-4002-C026C640B8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2856313"/>
          </a:xfrm>
        </p:spPr>
        <p:txBody>
          <a:bodyPr/>
          <a:lstStyle/>
          <a:p>
            <a:pPr algn="ctr"/>
            <a:r>
              <a:rPr lang="en-IN" sz="4400" dirty="0"/>
              <a:t>AI Vision Assistant for Visually Impaired Users</a:t>
            </a:r>
            <a:br>
              <a:rPr lang="en-IN" sz="4400" dirty="0"/>
            </a:br>
            <a:endParaRPr lang="en-IN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E83D59-ED41-C2BC-9F08-38272E162ECA}"/>
              </a:ext>
            </a:extLst>
          </p:cNvPr>
          <p:cNvSpPr txBox="1"/>
          <p:nvPr/>
        </p:nvSpPr>
        <p:spPr>
          <a:xfrm>
            <a:off x="450342" y="4749076"/>
            <a:ext cx="23751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dirty="0">
                <a:solidFill>
                  <a:srgbClr val="FF0000"/>
                </a:solidFill>
                <a:latin typeface="Plus Jakarta Sans SemiBold"/>
              </a:rPr>
              <a:t>PROGRAM DIRECTOR</a:t>
            </a:r>
            <a:r>
              <a:rPr lang="en-US" sz="1800" b="0" i="0" u="none" dirty="0">
                <a:solidFill>
                  <a:schemeClr val="tx1">
                    <a:lumMod val="95000"/>
                    <a:lumOff val="5000"/>
                  </a:schemeClr>
                </a:solidFill>
                <a:latin typeface="Plus Jakarta Sans SemiBold"/>
              </a:rPr>
              <a:t>:</a:t>
            </a:r>
          </a:p>
          <a:p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Plus Jakarta Sans SemiBold"/>
              </a:rPr>
              <a:t> Dr. SASI REKHA</a:t>
            </a:r>
          </a:p>
          <a:p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Plus Jakarta Sans SemiBold"/>
              </a:rPr>
              <a:t> PROF/CSE</a:t>
            </a:r>
            <a:endParaRPr lang="en-US" sz="1800" b="0" i="0" u="none" dirty="0">
              <a:solidFill>
                <a:schemeClr val="tx1">
                  <a:lumMod val="95000"/>
                  <a:lumOff val="5000"/>
                </a:schemeClr>
              </a:solidFill>
              <a:latin typeface="Plus Jakarta Sans SemiBold"/>
            </a:endParaRPr>
          </a:p>
          <a:p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Plus Jakarta Sans SemiBold"/>
              </a:rPr>
              <a:t>                                        </a:t>
            </a:r>
            <a:endParaRPr lang="en-US" sz="1800" b="0" i="0" u="none" dirty="0">
              <a:solidFill>
                <a:schemeClr val="tx1">
                  <a:lumMod val="95000"/>
                  <a:lumOff val="5000"/>
                </a:schemeClr>
              </a:solidFill>
              <a:latin typeface="Plus Jakarta Sans Semi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E1E9D2-C5CF-7723-312C-1D2F91969993}"/>
              </a:ext>
            </a:extLst>
          </p:cNvPr>
          <p:cNvSpPr txBox="1"/>
          <p:nvPr/>
        </p:nvSpPr>
        <p:spPr>
          <a:xfrm>
            <a:off x="450342" y="5719679"/>
            <a:ext cx="27500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FACULTY</a:t>
            </a:r>
          </a:p>
          <a:p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. R C . JENI GRACIA</a:t>
            </a:r>
          </a:p>
          <a:p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ASS PROF / CSE       </a:t>
            </a:r>
            <a:endParaRPr lang="en-IN" sz="1800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34DF83-B6AC-2BCA-949F-B6A2B703B70B}"/>
              </a:ext>
            </a:extLst>
          </p:cNvPr>
          <p:cNvSpPr txBox="1"/>
          <p:nvPr/>
        </p:nvSpPr>
        <p:spPr>
          <a:xfrm>
            <a:off x="6263640" y="4854786"/>
            <a:ext cx="604189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PRESENTED BY:</a:t>
            </a:r>
          </a:p>
          <a:p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SRI HARI N (192572127)</a:t>
            </a:r>
          </a:p>
          <a:p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G CHANDRA SEKHAR REDDY(192472173)</a:t>
            </a:r>
          </a:p>
          <a:p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P.POORNA CHANDRA (192472287)</a:t>
            </a:r>
          </a:p>
          <a:p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MEGHARAJU AKHILKUMAR (192572060)</a:t>
            </a:r>
          </a:p>
          <a:p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KATHIKEYAN U (192572131)   </a:t>
            </a:r>
            <a:endParaRPr lang="en-IN" sz="1800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E50DCB5-C3BE-D08F-B36E-759037CABF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30769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B230456-6A60-9E26-4B4A-79278DCC4B35}"/>
              </a:ext>
            </a:extLst>
          </p:cNvPr>
          <p:cNvSpPr txBox="1"/>
          <p:nvPr/>
        </p:nvSpPr>
        <p:spPr>
          <a:xfrm>
            <a:off x="4718304" y="3264408"/>
            <a:ext cx="3035808" cy="374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50"/>
              </a:lnSpc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Plus Jakarta Sans"/>
              </a:rPr>
              <a:t>COMPUTER VISION ITA0502</a:t>
            </a:r>
          </a:p>
        </p:txBody>
      </p:sp>
    </p:spTree>
    <p:extLst>
      <p:ext uri="{BB962C8B-B14F-4D97-AF65-F5344CB8AC3E}">
        <p14:creationId xmlns:p14="http://schemas.microsoft.com/office/powerpoint/2010/main" val="611752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78004-2ADB-CC92-1968-446906037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4760" y="164592"/>
            <a:ext cx="5303520" cy="1609344"/>
          </a:xfrm>
        </p:spPr>
        <p:txBody>
          <a:bodyPr/>
          <a:lstStyle/>
          <a:p>
            <a:pPr algn="ctr"/>
            <a:r>
              <a:rPr lang="en-IN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87D6C-7FCA-879B-6154-8A99C34D2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512" y="2615184"/>
            <a:ext cx="5166360" cy="2514600"/>
          </a:xfrm>
        </p:spPr>
        <p:txBody>
          <a:bodyPr>
            <a:normAutofit fontScale="85000" lnSpcReduction="20000"/>
          </a:bodyPr>
          <a:lstStyle/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Introduction 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Literature Review 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Problem Statement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System Architecture &amp; Overall Design 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Modules Overview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 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308DA8-62E9-B8A2-E5F7-3488CE238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0224" y="2003679"/>
            <a:ext cx="5305425" cy="3600450"/>
          </a:xfrm>
          <a:prstGeom prst="rect">
            <a:avLst/>
          </a:prstGeom>
        </p:spPr>
      </p:pic>
      <p:sp>
        <p:nvSpPr>
          <p:cNvPr id="6" name="Freeform 3">
            <a:extLst>
              <a:ext uri="{FF2B5EF4-FFF2-40B4-BE49-F238E27FC236}">
                <a16:creationId xmlns:a16="http://schemas.microsoft.com/office/drawing/2014/main" id="{189F60E3-CE41-717E-4777-7760F2D5DC68}"/>
              </a:ext>
            </a:extLst>
          </p:cNvPr>
          <p:cNvSpPr/>
          <p:nvPr/>
        </p:nvSpPr>
        <p:spPr>
          <a:xfrm>
            <a:off x="0" y="0"/>
            <a:ext cx="865415" cy="918482"/>
          </a:xfrm>
          <a:custGeom>
            <a:avLst/>
            <a:gdLst/>
            <a:ahLst/>
            <a:cxnLst/>
            <a:rect l="l" t="t" r="r" b="b"/>
            <a:pathLst>
              <a:path w="1597816" h="1881872">
                <a:moveTo>
                  <a:pt x="0" y="0"/>
                </a:moveTo>
                <a:lnTo>
                  <a:pt x="1597816" y="0"/>
                </a:lnTo>
                <a:lnTo>
                  <a:pt x="1597816" y="1881872"/>
                </a:lnTo>
                <a:lnTo>
                  <a:pt x="0" y="18818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733C35E8-7667-C940-2B59-4E3DEA5222AD}"/>
              </a:ext>
            </a:extLst>
          </p:cNvPr>
          <p:cNvSpPr/>
          <p:nvPr/>
        </p:nvSpPr>
        <p:spPr>
          <a:xfrm>
            <a:off x="11176518" y="0"/>
            <a:ext cx="1015482" cy="918482"/>
          </a:xfrm>
          <a:custGeom>
            <a:avLst/>
            <a:gdLst/>
            <a:ahLst/>
            <a:cxnLst/>
            <a:rect l="l" t="t" r="r" b="b"/>
            <a:pathLst>
              <a:path w="2130421" h="1881872">
                <a:moveTo>
                  <a:pt x="0" y="0"/>
                </a:moveTo>
                <a:lnTo>
                  <a:pt x="2130421" y="0"/>
                </a:lnTo>
                <a:lnTo>
                  <a:pt x="2130421" y="1881872"/>
                </a:lnTo>
                <a:lnTo>
                  <a:pt x="0" y="18818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001453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D8794-46B1-1D1E-11F9-41795DE42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3240" y="128016"/>
            <a:ext cx="6007608" cy="1609344"/>
          </a:xfrm>
        </p:spPr>
        <p:txBody>
          <a:bodyPr/>
          <a:lstStyle/>
          <a:p>
            <a:pPr algn="ctr"/>
            <a:r>
              <a:rPr lang="en-IN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39CA3-478B-6019-4EB5-F9138DA00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965960"/>
            <a:ext cx="7333488" cy="3950208"/>
          </a:xfrm>
        </p:spPr>
        <p:txBody>
          <a:bodyPr>
            <a:normAutofit lnSpcReduction="10000"/>
          </a:bodyPr>
          <a:lstStyle/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 impairment creates challenges in navigation and accessing daily information. 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Existing assistive tools often perform only one specific task. 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project integrates multiple AI features into a single intelligent assistant. 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Computer Vision, OCR, Speech Processing, and AI models. 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real-time voice guidance using a smartphone or webcam</a:t>
            </a:r>
          </a:p>
        </p:txBody>
      </p:sp>
      <p:pic>
        <p:nvPicPr>
          <p:cNvPr id="5" name="Picture 4" descr="AI-boosted cameras help blind people to navigate">
            <a:extLst>
              <a:ext uri="{FF2B5EF4-FFF2-40B4-BE49-F238E27FC236}">
                <a16:creationId xmlns:a16="http://schemas.microsoft.com/office/drawing/2014/main" id="{36F64C85-BE73-13CB-C942-69A538885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8704" y="1947672"/>
            <a:ext cx="4026850" cy="386105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Freeform 3">
            <a:extLst>
              <a:ext uri="{FF2B5EF4-FFF2-40B4-BE49-F238E27FC236}">
                <a16:creationId xmlns:a16="http://schemas.microsoft.com/office/drawing/2014/main" id="{CD3B7C7F-B73C-1EBD-0A49-386CBAC0578B}"/>
              </a:ext>
            </a:extLst>
          </p:cNvPr>
          <p:cNvSpPr/>
          <p:nvPr/>
        </p:nvSpPr>
        <p:spPr>
          <a:xfrm>
            <a:off x="0" y="0"/>
            <a:ext cx="865415" cy="918482"/>
          </a:xfrm>
          <a:custGeom>
            <a:avLst/>
            <a:gdLst/>
            <a:ahLst/>
            <a:cxnLst/>
            <a:rect l="l" t="t" r="r" b="b"/>
            <a:pathLst>
              <a:path w="1597816" h="1881872">
                <a:moveTo>
                  <a:pt x="0" y="0"/>
                </a:moveTo>
                <a:lnTo>
                  <a:pt x="1597816" y="0"/>
                </a:lnTo>
                <a:lnTo>
                  <a:pt x="1597816" y="1881872"/>
                </a:lnTo>
                <a:lnTo>
                  <a:pt x="0" y="18818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8645B149-E4EC-40EA-5E8C-F86A39F8F2CD}"/>
              </a:ext>
            </a:extLst>
          </p:cNvPr>
          <p:cNvSpPr/>
          <p:nvPr/>
        </p:nvSpPr>
        <p:spPr>
          <a:xfrm>
            <a:off x="11176518" y="0"/>
            <a:ext cx="1015482" cy="918482"/>
          </a:xfrm>
          <a:custGeom>
            <a:avLst/>
            <a:gdLst/>
            <a:ahLst/>
            <a:cxnLst/>
            <a:rect l="l" t="t" r="r" b="b"/>
            <a:pathLst>
              <a:path w="2130421" h="1881872">
                <a:moveTo>
                  <a:pt x="0" y="0"/>
                </a:moveTo>
                <a:lnTo>
                  <a:pt x="2130421" y="0"/>
                </a:lnTo>
                <a:lnTo>
                  <a:pt x="2130421" y="1881872"/>
                </a:lnTo>
                <a:lnTo>
                  <a:pt x="0" y="18818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618780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70FC9C6F-916C-72D2-1F8C-E26B29608520}"/>
              </a:ext>
            </a:extLst>
          </p:cNvPr>
          <p:cNvSpPr txBox="1"/>
          <p:nvPr/>
        </p:nvSpPr>
        <p:spPr>
          <a:xfrm>
            <a:off x="2836926" y="78707"/>
            <a:ext cx="60944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5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Literature Review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0A025B9-3F58-6251-35CC-A2880B8E50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9146605"/>
              </p:ext>
            </p:extLst>
          </p:nvPr>
        </p:nvGraphicFramePr>
        <p:xfrm>
          <a:off x="310896" y="1271016"/>
          <a:ext cx="11558016" cy="5303519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956816">
                  <a:extLst>
                    <a:ext uri="{9D8B030D-6E8A-4147-A177-3AD203B41FA5}">
                      <a16:colId xmlns:a16="http://schemas.microsoft.com/office/drawing/2014/main" val="1709154406"/>
                    </a:ext>
                  </a:extLst>
                </a:gridCol>
                <a:gridCol w="2185416">
                  <a:extLst>
                    <a:ext uri="{9D8B030D-6E8A-4147-A177-3AD203B41FA5}">
                      <a16:colId xmlns:a16="http://schemas.microsoft.com/office/drawing/2014/main" val="241876588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602333420"/>
                    </a:ext>
                  </a:extLst>
                </a:gridCol>
                <a:gridCol w="2432304">
                  <a:extLst>
                    <a:ext uri="{9D8B030D-6E8A-4147-A177-3AD203B41FA5}">
                      <a16:colId xmlns:a16="http://schemas.microsoft.com/office/drawing/2014/main" val="4157453422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3147736236"/>
                    </a:ext>
                  </a:extLst>
                </a:gridCol>
              </a:tblGrid>
              <a:tr h="2492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S.No</a:t>
                      </a:r>
                      <a:endParaRPr lang="en-IN" sz="1400"/>
                    </a:p>
                  </a:txBody>
                  <a:tcPr marL="33207" marR="33207" marT="16604" marB="166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Author(s)</a:t>
                      </a:r>
                      <a:endParaRPr lang="en-IN" sz="1400"/>
                    </a:p>
                  </a:txBody>
                  <a:tcPr marL="33207" marR="33207" marT="16604" marB="1660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Year</a:t>
                      </a:r>
                      <a:endParaRPr lang="en-IN" sz="1400"/>
                    </a:p>
                  </a:txBody>
                  <a:tcPr marL="33207" marR="33207" marT="16604" marB="166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Title</a:t>
                      </a:r>
                      <a:endParaRPr lang="en-IN" sz="1400"/>
                    </a:p>
                  </a:txBody>
                  <a:tcPr marL="33207" marR="33207" marT="16604" marB="166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Research Gap</a:t>
                      </a:r>
                      <a:endParaRPr lang="en-IN" sz="1400"/>
                    </a:p>
                  </a:txBody>
                  <a:tcPr marL="33207" marR="33207" marT="16604" marB="16604" anchor="ctr"/>
                </a:tc>
                <a:extLst>
                  <a:ext uri="{0D108BD9-81ED-4DB2-BD59-A6C34878D82A}">
                    <a16:rowId xmlns:a16="http://schemas.microsoft.com/office/drawing/2014/main" val="3441081485"/>
                  </a:ext>
                </a:extLst>
              </a:tr>
              <a:tr h="13278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1</a:t>
                      </a:r>
                      <a:endParaRPr lang="en-IN" sz="1400" dirty="0"/>
                    </a:p>
                  </a:txBody>
                  <a:tcPr marL="33207" marR="33207" marT="16604" marB="166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Bin Xiao et al.</a:t>
                      </a:r>
                      <a:endParaRPr lang="en-IN" sz="1400" dirty="0"/>
                    </a:p>
                  </a:txBody>
                  <a:tcPr marL="33207" marR="33207" marT="16604" marB="1660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2024</a:t>
                      </a:r>
                      <a:endParaRPr lang="en-IN" sz="1400"/>
                    </a:p>
                  </a:txBody>
                  <a:tcPr marL="33207" marR="33207" marT="16604" marB="166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Florence-2: Advancing a Unified Representation for Vision Tasks</a:t>
                      </a:r>
                      <a:endParaRPr lang="en-IN" sz="1400"/>
                    </a:p>
                  </a:txBody>
                  <a:tcPr marL="33207" marR="33207" marT="16604" marB="166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Focused on vision-language understanding but did not integrate obstacle detection, OCR, and navigation into a single assistive system.</a:t>
                      </a:r>
                    </a:p>
                  </a:txBody>
                  <a:tcPr marL="33207" marR="33207" marT="16604" marB="16604" anchor="ctr"/>
                </a:tc>
                <a:extLst>
                  <a:ext uri="{0D108BD9-81ED-4DB2-BD59-A6C34878D82A}">
                    <a16:rowId xmlns:a16="http://schemas.microsoft.com/office/drawing/2014/main" val="3345341948"/>
                  </a:ext>
                </a:extLst>
              </a:tr>
              <a:tr h="11993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2</a:t>
                      </a:r>
                      <a:endParaRPr lang="en-IN" sz="1400"/>
                    </a:p>
                  </a:txBody>
                  <a:tcPr marL="33207" marR="33207" marT="16604" marB="166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Rahima Khanam et al.</a:t>
                      </a:r>
                      <a:endParaRPr lang="en-IN" sz="1400" dirty="0"/>
                    </a:p>
                  </a:txBody>
                  <a:tcPr marL="33207" marR="33207" marT="16604" marB="1660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2024</a:t>
                      </a:r>
                      <a:endParaRPr lang="en-IN" sz="1400" dirty="0"/>
                    </a:p>
                  </a:txBody>
                  <a:tcPr marL="33207" marR="33207" marT="16604" marB="166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YOLOv11: An Overview of the Key Architectural Enhancements</a:t>
                      </a:r>
                      <a:endParaRPr lang="en-IN" sz="1400"/>
                    </a:p>
                  </a:txBody>
                  <a:tcPr marL="33207" marR="33207" marT="16604" marB="166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Improved real-time object detection but lacked voice guidance and accessibility features for visually impaired users.</a:t>
                      </a:r>
                    </a:p>
                  </a:txBody>
                  <a:tcPr marL="33207" marR="33207" marT="16604" marB="16604" anchor="ctr"/>
                </a:tc>
                <a:extLst>
                  <a:ext uri="{0D108BD9-81ED-4DB2-BD59-A6C34878D82A}">
                    <a16:rowId xmlns:a16="http://schemas.microsoft.com/office/drawing/2014/main" val="2314878311"/>
                  </a:ext>
                </a:extLst>
              </a:tr>
              <a:tr h="11993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3</a:t>
                      </a:r>
                      <a:endParaRPr lang="en-IN" sz="1400"/>
                    </a:p>
                  </a:txBody>
                  <a:tcPr marL="33207" marR="33207" marT="16604" marB="166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Ranjan Sapkota et al.</a:t>
                      </a:r>
                      <a:endParaRPr lang="en-IN" sz="1400" dirty="0"/>
                    </a:p>
                  </a:txBody>
                  <a:tcPr marL="33207" marR="33207" marT="16604" marB="1660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2025</a:t>
                      </a:r>
                      <a:endParaRPr lang="en-IN" sz="1400"/>
                    </a:p>
                  </a:txBody>
                  <a:tcPr marL="33207" marR="33207" marT="16604" marB="166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A Comprehensive Review of the YOLO Object Detection Models</a:t>
                      </a:r>
                      <a:endParaRPr lang="en-IN" sz="1400" dirty="0"/>
                    </a:p>
                  </a:txBody>
                  <a:tcPr marL="33207" marR="33207" marT="16604" marB="166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Reviewed YOLO advancements but did not propose an integrated AI assistant combining multiple assistive technologies.</a:t>
                      </a:r>
                    </a:p>
                  </a:txBody>
                  <a:tcPr marL="33207" marR="33207" marT="16604" marB="16604" anchor="ctr"/>
                </a:tc>
                <a:extLst>
                  <a:ext uri="{0D108BD9-81ED-4DB2-BD59-A6C34878D82A}">
                    <a16:rowId xmlns:a16="http://schemas.microsoft.com/office/drawing/2014/main" val="1501441848"/>
                  </a:ext>
                </a:extLst>
              </a:tr>
              <a:tr h="13278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4</a:t>
                      </a:r>
                      <a:endParaRPr lang="en-IN" sz="1400"/>
                    </a:p>
                  </a:txBody>
                  <a:tcPr marL="33207" marR="33207" marT="16604" marB="166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Cui et al.</a:t>
                      </a:r>
                      <a:endParaRPr lang="en-IN" sz="1400"/>
                    </a:p>
                  </a:txBody>
                  <a:tcPr marL="33207" marR="33207" marT="16604" marB="1660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2026</a:t>
                      </a:r>
                      <a:endParaRPr lang="en-IN" sz="1400" dirty="0"/>
                    </a:p>
                  </a:txBody>
                  <a:tcPr marL="33207" marR="33207" marT="16604" marB="166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PaddleOCR-VL: Boosting Document Parsing Efficiency and Performance</a:t>
                      </a:r>
                      <a:endParaRPr lang="en-IN" sz="1400"/>
                    </a:p>
                  </a:txBody>
                  <a:tcPr marL="33207" marR="33207" marT="16604" marB="166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Focused mainly on document OCR and parsing without navigation, object recognition, or scene understanding capabilities.</a:t>
                      </a:r>
                    </a:p>
                  </a:txBody>
                  <a:tcPr marL="33207" marR="33207" marT="16604" marB="16604" anchor="ctr"/>
                </a:tc>
                <a:extLst>
                  <a:ext uri="{0D108BD9-81ED-4DB2-BD59-A6C34878D82A}">
                    <a16:rowId xmlns:a16="http://schemas.microsoft.com/office/drawing/2014/main" val="1881922043"/>
                  </a:ext>
                </a:extLst>
              </a:tr>
            </a:tbl>
          </a:graphicData>
        </a:graphic>
      </p:graphicFrame>
      <p:sp>
        <p:nvSpPr>
          <p:cNvPr id="18" name="Freeform 3">
            <a:extLst>
              <a:ext uri="{FF2B5EF4-FFF2-40B4-BE49-F238E27FC236}">
                <a16:creationId xmlns:a16="http://schemas.microsoft.com/office/drawing/2014/main" id="{36EF50EC-04E2-50AB-A508-F5F7D9B8EB1A}"/>
              </a:ext>
            </a:extLst>
          </p:cNvPr>
          <p:cNvSpPr/>
          <p:nvPr/>
        </p:nvSpPr>
        <p:spPr>
          <a:xfrm>
            <a:off x="0" y="0"/>
            <a:ext cx="865415" cy="918482"/>
          </a:xfrm>
          <a:custGeom>
            <a:avLst/>
            <a:gdLst/>
            <a:ahLst/>
            <a:cxnLst/>
            <a:rect l="l" t="t" r="r" b="b"/>
            <a:pathLst>
              <a:path w="1597816" h="1881872">
                <a:moveTo>
                  <a:pt x="0" y="0"/>
                </a:moveTo>
                <a:lnTo>
                  <a:pt x="1597816" y="0"/>
                </a:lnTo>
                <a:lnTo>
                  <a:pt x="1597816" y="1881872"/>
                </a:lnTo>
                <a:lnTo>
                  <a:pt x="0" y="18818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0" name="Freeform 4">
            <a:extLst>
              <a:ext uri="{FF2B5EF4-FFF2-40B4-BE49-F238E27FC236}">
                <a16:creationId xmlns:a16="http://schemas.microsoft.com/office/drawing/2014/main" id="{B1491C15-F9B5-6B20-1F09-3BF126C86CA0}"/>
              </a:ext>
            </a:extLst>
          </p:cNvPr>
          <p:cNvSpPr/>
          <p:nvPr/>
        </p:nvSpPr>
        <p:spPr>
          <a:xfrm>
            <a:off x="11176518" y="0"/>
            <a:ext cx="1015482" cy="918482"/>
          </a:xfrm>
          <a:custGeom>
            <a:avLst/>
            <a:gdLst/>
            <a:ahLst/>
            <a:cxnLst/>
            <a:rect l="l" t="t" r="r" b="b"/>
            <a:pathLst>
              <a:path w="2130421" h="1881872">
                <a:moveTo>
                  <a:pt x="0" y="0"/>
                </a:moveTo>
                <a:lnTo>
                  <a:pt x="2130421" y="0"/>
                </a:lnTo>
                <a:lnTo>
                  <a:pt x="2130421" y="1881872"/>
                </a:lnTo>
                <a:lnTo>
                  <a:pt x="0" y="18818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823336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D5829-1B51-06BE-AEDF-FAECA20FB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FAE93-4D0A-CFF1-C0CB-60A163396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20" y="2688336"/>
            <a:ext cx="10058400" cy="2770632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Visually impaired users rely on multiple applications for different tasks.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Switching between apps reduces efficiency and increases complexity. 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 an integrated AI-powered vision assistant.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Provide real-time object detection, navigation, OCR, and currency recognition.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Deliver intelligent voice-based interaction for improved independence.</a:t>
            </a: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2D236822-092F-05FB-3686-C2338C56CBD1}"/>
              </a:ext>
            </a:extLst>
          </p:cNvPr>
          <p:cNvSpPr/>
          <p:nvPr/>
        </p:nvSpPr>
        <p:spPr>
          <a:xfrm>
            <a:off x="0" y="0"/>
            <a:ext cx="865415" cy="918482"/>
          </a:xfrm>
          <a:custGeom>
            <a:avLst/>
            <a:gdLst/>
            <a:ahLst/>
            <a:cxnLst/>
            <a:rect l="l" t="t" r="r" b="b"/>
            <a:pathLst>
              <a:path w="1597816" h="1881872">
                <a:moveTo>
                  <a:pt x="0" y="0"/>
                </a:moveTo>
                <a:lnTo>
                  <a:pt x="1597816" y="0"/>
                </a:lnTo>
                <a:lnTo>
                  <a:pt x="1597816" y="1881872"/>
                </a:lnTo>
                <a:lnTo>
                  <a:pt x="0" y="18818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BBF65EB0-1F4F-5273-7DC5-CEAB0DE7860E}"/>
              </a:ext>
            </a:extLst>
          </p:cNvPr>
          <p:cNvSpPr/>
          <p:nvPr/>
        </p:nvSpPr>
        <p:spPr>
          <a:xfrm>
            <a:off x="11176518" y="0"/>
            <a:ext cx="1015482" cy="918482"/>
          </a:xfrm>
          <a:custGeom>
            <a:avLst/>
            <a:gdLst/>
            <a:ahLst/>
            <a:cxnLst/>
            <a:rect l="l" t="t" r="r" b="b"/>
            <a:pathLst>
              <a:path w="2130421" h="1881872">
                <a:moveTo>
                  <a:pt x="0" y="0"/>
                </a:moveTo>
                <a:lnTo>
                  <a:pt x="2130421" y="0"/>
                </a:lnTo>
                <a:lnTo>
                  <a:pt x="2130421" y="1881872"/>
                </a:lnTo>
                <a:lnTo>
                  <a:pt x="0" y="18818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167898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BB631FD-5659-EC08-C45A-51D2F02067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8" name="Freeform 3">
            <a:extLst>
              <a:ext uri="{FF2B5EF4-FFF2-40B4-BE49-F238E27FC236}">
                <a16:creationId xmlns:a16="http://schemas.microsoft.com/office/drawing/2014/main" id="{94FB643B-04D5-1C1F-8890-504E9130FE3A}"/>
              </a:ext>
            </a:extLst>
          </p:cNvPr>
          <p:cNvSpPr/>
          <p:nvPr/>
        </p:nvSpPr>
        <p:spPr>
          <a:xfrm>
            <a:off x="0" y="0"/>
            <a:ext cx="865415" cy="918482"/>
          </a:xfrm>
          <a:custGeom>
            <a:avLst/>
            <a:gdLst/>
            <a:ahLst/>
            <a:cxnLst/>
            <a:rect l="l" t="t" r="r" b="b"/>
            <a:pathLst>
              <a:path w="1597816" h="1881872">
                <a:moveTo>
                  <a:pt x="0" y="0"/>
                </a:moveTo>
                <a:lnTo>
                  <a:pt x="1597816" y="0"/>
                </a:lnTo>
                <a:lnTo>
                  <a:pt x="1597816" y="1881872"/>
                </a:lnTo>
                <a:lnTo>
                  <a:pt x="0" y="18818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E3D6DB7E-A57A-1251-5E44-7C94B48B268D}"/>
              </a:ext>
            </a:extLst>
          </p:cNvPr>
          <p:cNvSpPr/>
          <p:nvPr/>
        </p:nvSpPr>
        <p:spPr>
          <a:xfrm>
            <a:off x="11176518" y="0"/>
            <a:ext cx="1015482" cy="918482"/>
          </a:xfrm>
          <a:custGeom>
            <a:avLst/>
            <a:gdLst/>
            <a:ahLst/>
            <a:cxnLst/>
            <a:rect l="l" t="t" r="r" b="b"/>
            <a:pathLst>
              <a:path w="2130421" h="1881872">
                <a:moveTo>
                  <a:pt x="0" y="0"/>
                </a:moveTo>
                <a:lnTo>
                  <a:pt x="2130421" y="0"/>
                </a:lnTo>
                <a:lnTo>
                  <a:pt x="2130421" y="1881872"/>
                </a:lnTo>
                <a:lnTo>
                  <a:pt x="0" y="18818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671637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99B8D-BAEF-E53E-9616-E24864DB7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6236" y="564388"/>
            <a:ext cx="10058400" cy="1609344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400" b="1" dirty="0">
                <a:solidFill>
                  <a:srgbClr val="FF0000"/>
                </a:solidFill>
              </a:rPr>
              <a:t>Module 1: Real-Time Object Detection &amp; Scene Understanding</a:t>
            </a:r>
            <a:br>
              <a:rPr lang="en-IN" b="1" dirty="0"/>
            </a:br>
            <a:endParaRPr lang="en-IN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8D464-E9DC-E148-878D-1A7F46CB4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8588" y="2414524"/>
            <a:ext cx="10058400" cy="2532888"/>
          </a:xfrm>
        </p:spPr>
        <p:txBody>
          <a:bodyPr>
            <a:normAutofit/>
          </a:bodyPr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objects around the user using the camera.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people, vehicles, and everyday objects.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Understands whether the user is indoors or outdoors.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Gives voice messages about what it sees.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the user understand the surroundings.</a:t>
            </a: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3CA1BD84-5B2B-CA30-A643-AA5FF3438F01}"/>
              </a:ext>
            </a:extLst>
          </p:cNvPr>
          <p:cNvSpPr/>
          <p:nvPr/>
        </p:nvSpPr>
        <p:spPr>
          <a:xfrm>
            <a:off x="0" y="0"/>
            <a:ext cx="865415" cy="918482"/>
          </a:xfrm>
          <a:custGeom>
            <a:avLst/>
            <a:gdLst/>
            <a:ahLst/>
            <a:cxnLst/>
            <a:rect l="l" t="t" r="r" b="b"/>
            <a:pathLst>
              <a:path w="1597816" h="1881872">
                <a:moveTo>
                  <a:pt x="0" y="0"/>
                </a:moveTo>
                <a:lnTo>
                  <a:pt x="1597816" y="0"/>
                </a:lnTo>
                <a:lnTo>
                  <a:pt x="1597816" y="1881872"/>
                </a:lnTo>
                <a:lnTo>
                  <a:pt x="0" y="18818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95DB61E8-9D61-2969-9AF9-0A3A591FD057}"/>
              </a:ext>
            </a:extLst>
          </p:cNvPr>
          <p:cNvSpPr/>
          <p:nvPr/>
        </p:nvSpPr>
        <p:spPr>
          <a:xfrm>
            <a:off x="11176518" y="0"/>
            <a:ext cx="1015482" cy="918482"/>
          </a:xfrm>
          <a:custGeom>
            <a:avLst/>
            <a:gdLst/>
            <a:ahLst/>
            <a:cxnLst/>
            <a:rect l="l" t="t" r="r" b="b"/>
            <a:pathLst>
              <a:path w="2130421" h="1881872">
                <a:moveTo>
                  <a:pt x="0" y="0"/>
                </a:moveTo>
                <a:lnTo>
                  <a:pt x="2130421" y="0"/>
                </a:lnTo>
                <a:lnTo>
                  <a:pt x="2130421" y="1881872"/>
                </a:lnTo>
                <a:lnTo>
                  <a:pt x="0" y="18818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426958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A3749-7EC9-CEAB-6876-75E2AC327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F84D1-F768-9BC3-A2EA-FFB5E3F39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8436" y="399288"/>
            <a:ext cx="10058400" cy="1609344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</a:rPr>
              <a:t>Module 2: Obstacle Detection &amp; Safe Navigation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4DE54-7768-6D6F-F244-1FBAAEAE8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1288" y="2706624"/>
            <a:ext cx="10058400" cy="2532888"/>
          </a:xfrm>
        </p:spPr>
        <p:txBody>
          <a:bodyPr>
            <a:normAutofit/>
          </a:bodyPr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Finds obstacles in front of the user.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how close the obstacle is.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Gives voice alerts if an obstacle is nearby.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the user choose a safe path.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the risk of accidents.</a:t>
            </a: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6194C64B-0CD0-D83D-C337-DFE3041E9CB4}"/>
              </a:ext>
            </a:extLst>
          </p:cNvPr>
          <p:cNvSpPr/>
          <p:nvPr/>
        </p:nvSpPr>
        <p:spPr>
          <a:xfrm>
            <a:off x="0" y="0"/>
            <a:ext cx="865415" cy="918482"/>
          </a:xfrm>
          <a:custGeom>
            <a:avLst/>
            <a:gdLst/>
            <a:ahLst/>
            <a:cxnLst/>
            <a:rect l="l" t="t" r="r" b="b"/>
            <a:pathLst>
              <a:path w="1597816" h="1881872">
                <a:moveTo>
                  <a:pt x="0" y="0"/>
                </a:moveTo>
                <a:lnTo>
                  <a:pt x="1597816" y="0"/>
                </a:lnTo>
                <a:lnTo>
                  <a:pt x="1597816" y="1881872"/>
                </a:lnTo>
                <a:lnTo>
                  <a:pt x="0" y="18818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E4BA832F-CDD3-39AF-A557-A3278F29AFEB}"/>
              </a:ext>
            </a:extLst>
          </p:cNvPr>
          <p:cNvSpPr/>
          <p:nvPr/>
        </p:nvSpPr>
        <p:spPr>
          <a:xfrm>
            <a:off x="11176518" y="0"/>
            <a:ext cx="1015482" cy="918482"/>
          </a:xfrm>
          <a:custGeom>
            <a:avLst/>
            <a:gdLst/>
            <a:ahLst/>
            <a:cxnLst/>
            <a:rect l="l" t="t" r="r" b="b"/>
            <a:pathLst>
              <a:path w="2130421" h="1881872">
                <a:moveTo>
                  <a:pt x="0" y="0"/>
                </a:moveTo>
                <a:lnTo>
                  <a:pt x="2130421" y="0"/>
                </a:lnTo>
                <a:lnTo>
                  <a:pt x="2130421" y="1881872"/>
                </a:lnTo>
                <a:lnTo>
                  <a:pt x="0" y="18818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523030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5349D-CD06-944F-5B18-45C7B2A39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6E2D8-B9E4-3C1E-EF15-21F74ED46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036" y="704088"/>
            <a:ext cx="10058400" cy="1609344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400" b="1" dirty="0">
                <a:solidFill>
                  <a:srgbClr val="FF0000"/>
                </a:solidFill>
              </a:rPr>
              <a:t>Module 3: Smart OCR &amp; Document Reader</a:t>
            </a:r>
            <a:br>
              <a:rPr lang="en-IN" b="1" dirty="0"/>
            </a:br>
            <a:endParaRPr lang="en-IN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BCE86-6DE7-ECCC-EC10-E250A9F6E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6988" y="2300224"/>
            <a:ext cx="10058400" cy="2532888"/>
          </a:xfrm>
        </p:spPr>
        <p:txBody>
          <a:bodyPr>
            <a:normAutofit/>
          </a:bodyPr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an image of a document.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Reads the text from the image.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the text into speech.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Reads books, bills, and medicine labels.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users access printed information.</a:t>
            </a: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580E96E-B321-0D2A-1012-1800EC8EF266}"/>
              </a:ext>
            </a:extLst>
          </p:cNvPr>
          <p:cNvSpPr/>
          <p:nvPr/>
        </p:nvSpPr>
        <p:spPr>
          <a:xfrm>
            <a:off x="0" y="0"/>
            <a:ext cx="865415" cy="918482"/>
          </a:xfrm>
          <a:custGeom>
            <a:avLst/>
            <a:gdLst/>
            <a:ahLst/>
            <a:cxnLst/>
            <a:rect l="l" t="t" r="r" b="b"/>
            <a:pathLst>
              <a:path w="1597816" h="1881872">
                <a:moveTo>
                  <a:pt x="0" y="0"/>
                </a:moveTo>
                <a:lnTo>
                  <a:pt x="1597816" y="0"/>
                </a:lnTo>
                <a:lnTo>
                  <a:pt x="1597816" y="1881872"/>
                </a:lnTo>
                <a:lnTo>
                  <a:pt x="0" y="18818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10B7D237-E9DA-FB06-0734-D3BEFE373EC4}"/>
              </a:ext>
            </a:extLst>
          </p:cNvPr>
          <p:cNvSpPr/>
          <p:nvPr/>
        </p:nvSpPr>
        <p:spPr>
          <a:xfrm>
            <a:off x="11176518" y="0"/>
            <a:ext cx="1015482" cy="918482"/>
          </a:xfrm>
          <a:custGeom>
            <a:avLst/>
            <a:gdLst/>
            <a:ahLst/>
            <a:cxnLst/>
            <a:rect l="l" t="t" r="r" b="b"/>
            <a:pathLst>
              <a:path w="2130421" h="1881872">
                <a:moveTo>
                  <a:pt x="0" y="0"/>
                </a:moveTo>
                <a:lnTo>
                  <a:pt x="2130421" y="0"/>
                </a:lnTo>
                <a:lnTo>
                  <a:pt x="2130421" y="1881872"/>
                </a:lnTo>
                <a:lnTo>
                  <a:pt x="0" y="18818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946970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D2F4A-783F-FC56-0FB6-18AFA200A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BBAAF-BCCA-23E1-49B1-E797F5EFD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336" y="551688"/>
            <a:ext cx="10058400" cy="1609344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</a:rPr>
              <a:t>Module 4: Indian Currency &amp; Essential Object Recognition</a:t>
            </a:r>
            <a:endParaRPr lang="en-IN" sz="40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E9548-9BDE-303B-BCDB-8B9D7A432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1288" y="2617724"/>
            <a:ext cx="10058400" cy="2532888"/>
          </a:xfrm>
        </p:spPr>
        <p:txBody>
          <a:bodyPr>
            <a:normAutofit/>
          </a:bodyPr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Indian currency notes and coins.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Recognizes important daily-use objects.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Announces the detected item by voice.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users during shopping.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daily tasks easier.</a:t>
            </a: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B4F77130-F1DE-8540-0B3D-498FCFF40C43}"/>
              </a:ext>
            </a:extLst>
          </p:cNvPr>
          <p:cNvSpPr/>
          <p:nvPr/>
        </p:nvSpPr>
        <p:spPr>
          <a:xfrm>
            <a:off x="0" y="0"/>
            <a:ext cx="865415" cy="918482"/>
          </a:xfrm>
          <a:custGeom>
            <a:avLst/>
            <a:gdLst/>
            <a:ahLst/>
            <a:cxnLst/>
            <a:rect l="l" t="t" r="r" b="b"/>
            <a:pathLst>
              <a:path w="1597816" h="1881872">
                <a:moveTo>
                  <a:pt x="0" y="0"/>
                </a:moveTo>
                <a:lnTo>
                  <a:pt x="1597816" y="0"/>
                </a:lnTo>
                <a:lnTo>
                  <a:pt x="1597816" y="1881872"/>
                </a:lnTo>
                <a:lnTo>
                  <a:pt x="0" y="18818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7D62BA6C-22B1-A427-1B66-1D358A70D322}"/>
              </a:ext>
            </a:extLst>
          </p:cNvPr>
          <p:cNvSpPr/>
          <p:nvPr/>
        </p:nvSpPr>
        <p:spPr>
          <a:xfrm>
            <a:off x="11176518" y="0"/>
            <a:ext cx="1015482" cy="918482"/>
          </a:xfrm>
          <a:custGeom>
            <a:avLst/>
            <a:gdLst/>
            <a:ahLst/>
            <a:cxnLst/>
            <a:rect l="l" t="t" r="r" b="b"/>
            <a:pathLst>
              <a:path w="2130421" h="1881872">
                <a:moveTo>
                  <a:pt x="0" y="0"/>
                </a:moveTo>
                <a:lnTo>
                  <a:pt x="2130421" y="0"/>
                </a:lnTo>
                <a:lnTo>
                  <a:pt x="2130421" y="1881872"/>
                </a:lnTo>
                <a:lnTo>
                  <a:pt x="0" y="18818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029601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FEDA3-8255-54FD-759E-6712B4B45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DF492-EF5E-60A4-CD3A-B47F2AE76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336" y="551688"/>
            <a:ext cx="10058400" cy="1609344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solidFill>
                  <a:srgbClr val="FF0000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A8094-9C19-4241-EE52-3A0BC8CC8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133600"/>
            <a:ext cx="11506200" cy="3220212"/>
          </a:xfrm>
        </p:spPr>
        <p:txBody>
          <a:bodyPr>
            <a:noAutofit/>
          </a:bodyPr>
          <a:lstStyle/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Bhavesh Kumar. (2021).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Cane: Visual Assistant for the Visually Impaired.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Available at: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https://arxiv.org/abs/2109.13857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Obstacle Detection and Audio Navigation for the Visually Impaired Using YOLO," in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 5th International Conference on Emerging Research in Electronics, Computer Science and Technology (ICERECT)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IEEE, 2025.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10.1109/ICERECT65215.2025.11376185.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"Smart Wearable for Real-Time Object Detection and Assistive Navigation," in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 9th International Conference on Computational System and Information Technology for Sustainable Solutions (CSITSS)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IEEE, 2025.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10.1109/CSITSS67709.2025.11295712. 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Effective Obstacle Detection System Using Deep Learning Advantages to Aid Blind and Visually Impaired Navigation. (2024). Ain Shams Engineering Journal, 15(2), 102387.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Luis Marquez-Carpintero et al. (2025). An Artificial Intelligence-based Assistant for the Visually Impaired (AIDEN).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62D64EC-A33B-6C1A-17F3-D399D37F0C67}"/>
              </a:ext>
            </a:extLst>
          </p:cNvPr>
          <p:cNvSpPr/>
          <p:nvPr/>
        </p:nvSpPr>
        <p:spPr>
          <a:xfrm>
            <a:off x="0" y="0"/>
            <a:ext cx="865415" cy="918482"/>
          </a:xfrm>
          <a:custGeom>
            <a:avLst/>
            <a:gdLst/>
            <a:ahLst/>
            <a:cxnLst/>
            <a:rect l="l" t="t" r="r" b="b"/>
            <a:pathLst>
              <a:path w="1597816" h="1881872">
                <a:moveTo>
                  <a:pt x="0" y="0"/>
                </a:moveTo>
                <a:lnTo>
                  <a:pt x="1597816" y="0"/>
                </a:lnTo>
                <a:lnTo>
                  <a:pt x="1597816" y="1881872"/>
                </a:lnTo>
                <a:lnTo>
                  <a:pt x="0" y="18818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CDE236A4-08DB-D7F5-55C8-B0782FCA21FC}"/>
              </a:ext>
            </a:extLst>
          </p:cNvPr>
          <p:cNvSpPr/>
          <p:nvPr/>
        </p:nvSpPr>
        <p:spPr>
          <a:xfrm>
            <a:off x="11176518" y="0"/>
            <a:ext cx="1015482" cy="918482"/>
          </a:xfrm>
          <a:custGeom>
            <a:avLst/>
            <a:gdLst/>
            <a:ahLst/>
            <a:cxnLst/>
            <a:rect l="l" t="t" r="r" b="b"/>
            <a:pathLst>
              <a:path w="2130421" h="1881872">
                <a:moveTo>
                  <a:pt x="0" y="0"/>
                </a:moveTo>
                <a:lnTo>
                  <a:pt x="2130421" y="0"/>
                </a:lnTo>
                <a:lnTo>
                  <a:pt x="2130421" y="1881872"/>
                </a:lnTo>
                <a:lnTo>
                  <a:pt x="0" y="18818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720663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7DF63-18C3-54C0-E81E-2287D2BE0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8688" y="118872"/>
            <a:ext cx="4992624" cy="1609344"/>
          </a:xfrm>
        </p:spPr>
        <p:txBody>
          <a:bodyPr/>
          <a:lstStyle/>
          <a:p>
            <a:pPr algn="ctr"/>
            <a:r>
              <a:rPr lang="en-IN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0FEF7-7082-B3FC-FBEE-145E58C89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7552" y="1773936"/>
            <a:ext cx="10058400" cy="4050792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Developed an AI-powered vision assistant that integrates multiple assistive technologies into a single platform. 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Enables real-time object detection, obstacle avoidance, OCR, currency recognition, and scene understanding. 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voice-based guidance and natural interaction, improving accessibility and user independence. 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Utilizes advanced AI models such as YOLOv11, </a:t>
            </a:r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MiDaS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PaddleOCR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Whisper, and Florence-2/Qwen2.5-VL for accurate and efficient performance.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Aims to enhance the safety, confidence, and quality of life of visually impaired users through intelligent, real-time assistance.</a:t>
            </a: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30CE57D3-9F3A-96E6-342F-5F8331EC2C39}"/>
              </a:ext>
            </a:extLst>
          </p:cNvPr>
          <p:cNvSpPr/>
          <p:nvPr/>
        </p:nvSpPr>
        <p:spPr>
          <a:xfrm>
            <a:off x="0" y="0"/>
            <a:ext cx="865415" cy="918482"/>
          </a:xfrm>
          <a:custGeom>
            <a:avLst/>
            <a:gdLst/>
            <a:ahLst/>
            <a:cxnLst/>
            <a:rect l="l" t="t" r="r" b="b"/>
            <a:pathLst>
              <a:path w="1597816" h="1881872">
                <a:moveTo>
                  <a:pt x="0" y="0"/>
                </a:moveTo>
                <a:lnTo>
                  <a:pt x="1597816" y="0"/>
                </a:lnTo>
                <a:lnTo>
                  <a:pt x="1597816" y="1881872"/>
                </a:lnTo>
                <a:lnTo>
                  <a:pt x="0" y="18818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E8B054AA-345B-E8E9-4B94-4CF10F9D924E}"/>
              </a:ext>
            </a:extLst>
          </p:cNvPr>
          <p:cNvSpPr/>
          <p:nvPr/>
        </p:nvSpPr>
        <p:spPr>
          <a:xfrm>
            <a:off x="11176518" y="0"/>
            <a:ext cx="1015482" cy="918482"/>
          </a:xfrm>
          <a:custGeom>
            <a:avLst/>
            <a:gdLst/>
            <a:ahLst/>
            <a:cxnLst/>
            <a:rect l="l" t="t" r="r" b="b"/>
            <a:pathLst>
              <a:path w="2130421" h="1881872">
                <a:moveTo>
                  <a:pt x="0" y="0"/>
                </a:moveTo>
                <a:lnTo>
                  <a:pt x="2130421" y="0"/>
                </a:lnTo>
                <a:lnTo>
                  <a:pt x="2130421" y="1881872"/>
                </a:lnTo>
                <a:lnTo>
                  <a:pt x="0" y="18818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625631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D5077-CE61-28B0-159F-F666D0D03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78739-2A19-8617-C418-C45987344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2" descr="Thank You Digital Tablet Stock Illustrations – 43 Thank You Digital Tablet  Stock Illustrations, Vectors &amp; Clipart - Dreamstime">
            <a:extLst>
              <a:ext uri="{FF2B5EF4-FFF2-40B4-BE49-F238E27FC236}">
                <a16:creationId xmlns:a16="http://schemas.microsoft.com/office/drawing/2014/main" id="{35295FCB-F1F8-E483-EC86-2C56A578A7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15138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{69F77931-C664-40C4-8BA1-922C8D736C53}TF2ec419c9-97c3-4958-b02a-0886397d33afcfe10e4b-d68909c4b1b0</Template>
  <TotalTime>79</TotalTime>
  <Words>789</Words>
  <Application>Microsoft Office PowerPoint</Application>
  <PresentationFormat>Widescreen</PresentationFormat>
  <Paragraphs>97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Calibri</vt:lpstr>
      <vt:lpstr>Plus Jakarta Sans</vt:lpstr>
      <vt:lpstr>Plus Jakarta Sans SemiBold</vt:lpstr>
      <vt:lpstr>Rockwell</vt:lpstr>
      <vt:lpstr>Rockwell Condensed</vt:lpstr>
      <vt:lpstr>Times New Roman</vt:lpstr>
      <vt:lpstr>Wingdings</vt:lpstr>
      <vt:lpstr>Wood Type</vt:lpstr>
      <vt:lpstr>AI Vision Assistant for Visually Impaired Users </vt:lpstr>
      <vt:lpstr>Agenda</vt:lpstr>
      <vt:lpstr>Introduction</vt:lpstr>
      <vt:lpstr>PowerPoint Presentation</vt:lpstr>
      <vt:lpstr>Problem Statement &amp; Objectives</vt:lpstr>
      <vt:lpstr>PowerPoint Presentation</vt:lpstr>
      <vt:lpstr>Module 1: Real-Time Object Detection &amp; Scene Understanding </vt:lpstr>
      <vt:lpstr>Module 2: Obstacle Detection &amp; Safe Navigation</vt:lpstr>
      <vt:lpstr>Module 3: Smart OCR &amp; Document Reader </vt:lpstr>
      <vt:lpstr>Module 4: Indian Currency &amp; Essential Object Recognition</vt:lpstr>
      <vt:lpstr>References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Golamri chandra sekhar reddy</dc:creator>
  <cp:lastModifiedBy>Golamri chandra sekhar reddy</cp:lastModifiedBy>
  <cp:revision>1</cp:revision>
  <dcterms:created xsi:type="dcterms:W3CDTF">2026-07-25T05:00:08Z</dcterms:created>
  <dcterms:modified xsi:type="dcterms:W3CDTF">2026-08-20T08:23:57Z</dcterms:modified>
</cp:coreProperties>
</file>